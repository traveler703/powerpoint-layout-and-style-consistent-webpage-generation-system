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8"/>
  </p:normalViewPr>
  <p:slideViewPr>
    <p:cSldViewPr snapToGrid="0">
      <p:cViewPr varScale="1">
        <p:scale>
          <a:sx n="93" d="100"/>
          <a:sy n="93" d="100"/>
        </p:scale>
        <p:origin x="248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2C975-6A6A-0C54-1DBB-84F07DA3C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C681DB-29FE-1C6C-4D6B-A0643DFCB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4A1E4-9758-C29D-591F-39E94475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7B7E4-6025-D235-CD09-5B4A8336B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0F5973-EF89-CDE1-B277-78A87540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017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6A748-371B-741E-7E3E-AE12AEDE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2489B-EBEF-DA7A-4430-00FB6AA95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9EB7A2-2D15-2BB1-8FBF-4F371F5E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C09609-37DC-F084-339A-1D0B6631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42FEA-D7CA-FD0E-F613-A8E0471D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865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FDFD4-BBDA-EC6D-31B0-ECF221A3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939960-9C31-61D0-7526-12D13919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B5791-C1A5-64F9-AB44-2386E551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3BCB2-AD9C-9B5F-7603-64ABB5C6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614DF-6298-57A3-7559-63A6D45E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850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FD81B-0218-034D-49E0-F61E6BADA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22108F-99B8-7B84-4D29-72101BAF4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25D4DB-79C7-BCF3-00D3-206AE1525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D95D0-2445-17F8-2D02-28EB5672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29F9C1-0490-D104-7C99-EC1734CA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3E2F50-1F5E-0D94-6AE4-24552F24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06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8BCB2-9B66-0D61-29EB-2541B632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19A695-6C43-53C3-CD6E-B1886B73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27AC39-1A80-B1C7-3F16-317CD8752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1FDEF8-83AD-1807-CC46-06C4D6899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1B9DFE-8F6E-046B-0AAA-9C597EA10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138738-445F-D150-04C4-4F660007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476E05-5B77-470D-CC9E-8E141FD1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8567F2-D197-138B-C59B-E7D12C28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408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5065C-61A3-E74A-7FBB-8CB1637A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E1D36A-3A2F-EA81-528B-7A12A4F5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133CB9-3D07-79F7-FB32-1DD94013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9E8288-E611-E814-F0AC-1554C573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72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C8E6E7-D756-8E70-9D29-ECD2D173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F04AE7-6546-A13A-434B-FCF76824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69031A-055E-AA99-93DC-635690FD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82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CA8E5-C52F-C3A7-E54D-021950FA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2B2A90-6463-35FE-84E0-80BCF949B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1E791D-AD77-4004-08A3-4A0D6608F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84E5C8-EE66-0234-2EEC-A1C15988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2971EC-C181-3ADA-0984-4D31D558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06A799-B886-9CEF-6080-5565D7D2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40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E59BB-214A-869C-7774-9BD84C53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013F1D-F2AD-B783-11BE-AE9116CAB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9C34A5-5EA7-5939-8CE3-E8B00C7C9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5393C-8CB3-AD7F-4850-7B586788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471D9E-ED5D-866D-048E-7521572D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AE2C23-B626-8838-6CFC-D26B6206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09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8BF5-7DB9-F6CF-21C4-07844DCB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78C29-607D-C595-038C-366727971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BCF3B-505C-F88C-6B1E-59246A99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FFBA11-1A19-C6DD-897C-46305573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E972D-4384-76A0-16A0-BDE3CCCB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55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8C4334-2A5E-25EE-5225-955439CE5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D5507-440C-C982-DD12-087496726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0DF01C-649E-5540-CD70-BE369A5A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9B276-2947-F500-008E-20C73E89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89C5D-4291-9627-02C6-40D9035E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49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437DCD-42A8-FCA5-529C-EAD7D361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11A18-DE7B-9BE1-4F7E-346B8AB17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A7701-C757-7DFB-C89F-630F5CA4D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76266-99B7-0A4D-BC73-41A620E611FC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75E8C9-1F38-16F8-7900-B32B70348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C3E812-B31A-D387-9F19-7F3C02E58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E30AC-66CC-574B-8B0C-5E1A48E548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62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2C281-AF40-FCFD-2AAC-9E22FB972A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胡萝卜的简介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4C3FFC-5732-18C2-BFF0-143BF485D9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胡萝卜有什么功效</a:t>
            </a:r>
          </a:p>
        </p:txBody>
      </p:sp>
    </p:spTree>
    <p:extLst>
      <p:ext uri="{BB962C8B-B14F-4D97-AF65-F5344CB8AC3E}">
        <p14:creationId xmlns:p14="http://schemas.microsoft.com/office/powerpoint/2010/main" val="342348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C1D6C-49C4-1CA2-B1EA-54A8A14C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</a:t>
            </a:r>
            <a:r>
              <a:rPr lang="zh-CN" altLang="zh-CN" b="1" dirty="0"/>
              <a:t>什么是胡萝卜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6D710-8FFA-1C75-2F4A-133651AB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胡萝卜</a:t>
            </a:r>
            <a:r>
              <a:rPr lang="en-US" altLang="zh-CN" dirty="0"/>
              <a:t>(</a:t>
            </a:r>
            <a:r>
              <a:rPr lang="en-US" altLang="zh-CN" i="1" dirty="0"/>
              <a:t>Daucus carota </a:t>
            </a:r>
            <a:r>
              <a:rPr lang="en-US" altLang="zh-CN" dirty="0" err="1"/>
              <a:t>var.</a:t>
            </a:r>
            <a:r>
              <a:rPr lang="en-US" altLang="zh-CN" i="1" dirty="0" err="1"/>
              <a:t>sativa</a:t>
            </a:r>
            <a:r>
              <a:rPr lang="en-US" altLang="zh-CN" dirty="0"/>
              <a:t> </a:t>
            </a:r>
            <a:r>
              <a:rPr lang="en-US" altLang="zh-CN" dirty="0" err="1"/>
              <a:t>Hoffm</a:t>
            </a:r>
            <a:r>
              <a:rPr lang="en-US" altLang="zh-CN" dirty="0"/>
              <a:t>.)</a:t>
            </a:r>
            <a:r>
              <a:rPr lang="zh-CN" altLang="zh-CN" dirty="0"/>
              <a:t>，伞形科胡萝卜属中广泛栽种的一种两年生草本根茎类蔬菜，染色体数为</a:t>
            </a:r>
            <a:r>
              <a:rPr lang="en-US" altLang="zh-CN" dirty="0"/>
              <a:t>2n</a:t>
            </a:r>
            <a:r>
              <a:rPr lang="zh-CN" altLang="zh-CN" dirty="0"/>
              <a:t>＝</a:t>
            </a:r>
            <a:r>
              <a:rPr lang="en-US" altLang="zh-CN" dirty="0"/>
              <a:t>2x</a:t>
            </a:r>
            <a:r>
              <a:rPr lang="zh-CN" altLang="zh-CN" dirty="0"/>
              <a:t>＝</a:t>
            </a:r>
            <a:r>
              <a:rPr lang="en-US" altLang="zh-CN" dirty="0"/>
              <a:t>18</a:t>
            </a:r>
            <a:r>
              <a:rPr lang="zh-CN" altLang="zh-CN" dirty="0"/>
              <a:t>。植株在第一个生长季节长叶，增大的主根为第二年开花储存了大量的碳水化合物，收获一般在第一年进行；叶为二回复叶，细裂，直立丛生。在近冰点的低温下休眠后生出高大而分枝的花茎。复伞形花序顶生，花极小，白色或淡黄色。胡萝卜的肉质根次生韧皮部发达，成为主要食用部分，木质部占比例较小</a:t>
            </a:r>
            <a:r>
              <a:rPr lang="en-US" altLang="zh-CN" baseline="30000" dirty="0"/>
              <a:t> [1]</a:t>
            </a:r>
            <a:r>
              <a:rPr lang="zh-CN" altLang="zh-CN" dirty="0"/>
              <a:t>。我国胡萝卜最早记录是《绍兴本草》（</a:t>
            </a:r>
            <a:r>
              <a:rPr lang="en-US" altLang="zh-CN" dirty="0"/>
              <a:t>1159</a:t>
            </a:r>
            <a:r>
              <a:rPr lang="zh-CN" altLang="zh-CN" dirty="0"/>
              <a:t>年），书中就记载了</a:t>
            </a:r>
            <a:r>
              <a:rPr lang="en-US" altLang="zh-CN" dirty="0"/>
              <a:t>“</a:t>
            </a:r>
            <a:r>
              <a:rPr lang="zh-CN" altLang="zh-CN" dirty="0"/>
              <a:t>处处产之</a:t>
            </a:r>
            <a:r>
              <a:rPr lang="en-US" altLang="zh-CN" dirty="0"/>
              <a:t>”</a:t>
            </a:r>
            <a:r>
              <a:rPr lang="zh-CN" altLang="zh-CN" dirty="0"/>
              <a:t>，推测胡萝卜引入中国的年代要早于</a:t>
            </a:r>
            <a:r>
              <a:rPr lang="en-US" altLang="zh-CN" dirty="0"/>
              <a:t>1159</a:t>
            </a:r>
            <a:r>
              <a:rPr lang="zh-CN" altLang="zh-CN" dirty="0"/>
              <a:t>年，《本草纲目》中记载，元时始自胡地来，气味微似萝卜，故名胡萝卜</a:t>
            </a:r>
            <a:r>
              <a:rPr lang="en-US" altLang="zh-CN" baseline="30000" dirty="0"/>
              <a:t> [2]</a:t>
            </a:r>
            <a:r>
              <a:rPr lang="zh-CN" altLang="zh-CN" dirty="0"/>
              <a:t>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31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84B5-2F5A-1345-DD6E-EB90D753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019B4-BA77-8F35-C135-9DCE0F2A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</a:t>
            </a:r>
            <a:r>
              <a:rPr lang="zh-CN" altLang="zh-CN" b="1" dirty="0"/>
              <a:t>什么是胡萝卜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DE167CE-878F-9CDB-E97E-6EFA07AF5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5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EE372-CF8E-D18C-FB66-F3F25AC8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</a:t>
            </a:r>
            <a:r>
              <a:rPr lang="zh-CN" altLang="zh-CN" b="1" dirty="0"/>
              <a:t>胡萝卜的品种有哪些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6B34D1-2BF1-B4C3-3991-7576825E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根据胡萝卜根部的色素沉着，栽培胡萝卜主要分为东方胡萝卜和西方胡萝卜</a:t>
            </a:r>
            <a:r>
              <a:rPr lang="en-US" altLang="zh-CN" baseline="30000" dirty="0"/>
              <a:t> [3]</a:t>
            </a:r>
            <a:r>
              <a:rPr lang="zh-CN" altLang="zh-CN" dirty="0"/>
              <a:t>，东方胡萝卜被认为起源于阿富汗，而西方胡萝卜的起源仍不确定</a:t>
            </a:r>
            <a:r>
              <a:rPr lang="en-US" altLang="zh-CN" baseline="30000" dirty="0"/>
              <a:t> [4]</a:t>
            </a:r>
            <a:r>
              <a:rPr lang="zh-CN" altLang="zh-CN" dirty="0"/>
              <a:t>。大多数东方胡萝卜的根是紫色，黄色。西方胡萝卜的根大多是橙色、红色或白色</a:t>
            </a:r>
            <a:r>
              <a:rPr lang="en-US" altLang="zh-CN" baseline="30000" dirty="0"/>
              <a:t> [5]</a:t>
            </a:r>
            <a:r>
              <a:rPr lang="zh-CN" altLang="zh-CN" dirty="0"/>
              <a:t>。橙色胡萝卜广泛在世界栽种，适应性广，性喜冷凉，喜充足日光，适于中性土种植，在微酸性和微碱性的土中，也能生长良好，在重黏土和低湿或排水不良的土地则不宜栽种。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98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91D8-5D03-F4CF-CE06-70584695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D0BC-F269-1BCC-2A4E-FE080BD6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</a:t>
            </a:r>
            <a:r>
              <a:rPr lang="zh-CN" altLang="zh-CN" b="1" dirty="0"/>
              <a:t>胡萝卜的品种有哪些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A6361F-9969-BA9C-8C89-65F7E66AC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5850" y="2585244"/>
            <a:ext cx="24003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60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0EDA9-77D7-DDD2-DC98-B1A452D1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</a:t>
            </a:r>
            <a:r>
              <a:rPr lang="zh-CN" altLang="zh-CN" b="1" dirty="0"/>
              <a:t>胡萝卜怎么吃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5D3A0-A622-3F43-A3B6-B7D9D70D9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胡萝卜中的类胡萝卜素可以为人体内维生素</a:t>
            </a:r>
            <a:r>
              <a:rPr lang="en-US" altLang="zh-CN" dirty="0"/>
              <a:t>A</a:t>
            </a:r>
            <a:r>
              <a:rPr lang="zh-CN" altLang="zh-CN" dirty="0"/>
              <a:t>提供合成基质，有助于预防癌症、调节血糖水平、抗氧化和延缓衰老</a:t>
            </a:r>
            <a:r>
              <a:rPr lang="en-US" altLang="zh-CN" baseline="30000" dirty="0"/>
              <a:t> [6]</a:t>
            </a:r>
            <a:r>
              <a:rPr lang="zh-CN" altLang="zh-CN" dirty="0"/>
              <a:t>。胡萝卜根还储存碳水化合物、维生素、膳食纤维和其他代谢物和营养物质</a:t>
            </a:r>
            <a:r>
              <a:rPr lang="en-US" altLang="zh-CN" baseline="30000" dirty="0"/>
              <a:t> [7]</a:t>
            </a:r>
            <a:r>
              <a:rPr lang="zh-CN" altLang="zh-CN" dirty="0"/>
              <a:t>。胡萝卜质脆味美、营养丰富，烹调时应用食用油烹制，营养价值更高。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16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0504D4-DA0D-D278-B23F-11DBA242E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kumimoji="1" lang="en-US" altLang="zh-CN" sz="4000" dirty="0"/>
              <a:t>3.</a:t>
            </a:r>
            <a:r>
              <a:rPr kumimoji="1" lang="zh-CN" altLang="en-US" sz="4000" dirty="0"/>
              <a:t>胡萝卜怎么吃</a:t>
            </a:r>
          </a:p>
        </p:txBody>
      </p:sp>
      <p:graphicFrame>
        <p:nvGraphicFramePr>
          <p:cNvPr id="7" name="内容占位符 3">
            <a:extLst>
              <a:ext uri="{FF2B5EF4-FFF2-40B4-BE49-F238E27FC236}">
                <a16:creationId xmlns:a16="http://schemas.microsoft.com/office/drawing/2014/main" id="{1F005176-0C29-F57B-CF84-6932BB6933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3694723"/>
              </p:ext>
            </p:extLst>
          </p:nvPr>
        </p:nvGraphicFramePr>
        <p:xfrm>
          <a:off x="2845354" y="2773351"/>
          <a:ext cx="6501291" cy="2220882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460467">
                  <a:extLst>
                    <a:ext uri="{9D8B030D-6E8A-4147-A177-3AD203B41FA5}">
                      <a16:colId xmlns:a16="http://schemas.microsoft.com/office/drawing/2014/main" val="963576511"/>
                    </a:ext>
                  </a:extLst>
                </a:gridCol>
                <a:gridCol w="2020412">
                  <a:extLst>
                    <a:ext uri="{9D8B030D-6E8A-4147-A177-3AD203B41FA5}">
                      <a16:colId xmlns:a16="http://schemas.microsoft.com/office/drawing/2014/main" val="1095959099"/>
                    </a:ext>
                  </a:extLst>
                </a:gridCol>
                <a:gridCol w="2020412">
                  <a:extLst>
                    <a:ext uri="{9D8B030D-6E8A-4147-A177-3AD203B41FA5}">
                      <a16:colId xmlns:a16="http://schemas.microsoft.com/office/drawing/2014/main" val="2435213475"/>
                    </a:ext>
                  </a:extLst>
                </a:gridCol>
              </a:tblGrid>
              <a:tr h="1145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3300" b="1" kern="100" cap="all" spc="60">
                          <a:solidFill>
                            <a:schemeClr val="tx1"/>
                          </a:solidFill>
                          <a:effectLst/>
                        </a:rPr>
                        <a:t>萝卜品种</a:t>
                      </a:r>
                      <a:endParaRPr lang="zh-CN" sz="3300" b="1" kern="100" cap="all" spc="6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251460" marB="2514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3300" b="1" kern="100" cap="all" spc="60">
                          <a:solidFill>
                            <a:schemeClr val="tx1"/>
                          </a:solidFill>
                          <a:effectLst/>
                        </a:rPr>
                        <a:t>胡萝卜</a:t>
                      </a:r>
                      <a:endParaRPr lang="zh-CN" sz="3300" b="1" kern="100" cap="all" spc="6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251460" marB="2514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3300" b="1" kern="100" cap="all" spc="60">
                          <a:solidFill>
                            <a:schemeClr val="tx1"/>
                          </a:solidFill>
                          <a:effectLst/>
                        </a:rPr>
                        <a:t>白萝卜</a:t>
                      </a:r>
                      <a:endParaRPr lang="zh-CN" sz="3300" b="1" kern="100" cap="all" spc="6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251460" marB="25146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478306"/>
                  </a:ext>
                </a:extLst>
              </a:tr>
              <a:tr h="10749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33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营养指数</a:t>
                      </a:r>
                      <a:endParaRPr lang="zh-CN" sz="3300" b="1" kern="100" cap="none" spc="0" dirty="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251460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4400" kern="100" cap="none" spc="0">
                          <a:solidFill>
                            <a:schemeClr val="tx1"/>
                          </a:solidFill>
                          <a:effectLst/>
                        </a:rPr>
                        <a:t>3.3</a:t>
                      </a:r>
                      <a:endParaRPr lang="zh-CN" sz="4400" kern="100" cap="none" spc="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25146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44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3.2</a:t>
                      </a:r>
                      <a:endParaRPr lang="zh-CN" sz="4400" kern="100" cap="none" spc="0" dirty="0">
                        <a:solidFill>
                          <a:schemeClr val="tx1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25146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689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43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ba9367-eb51-4860-91fd-089945178738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434</Words>
  <Application>Microsoft Macintosh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</vt:lpstr>
      <vt:lpstr>等线 Light</vt:lpstr>
      <vt:lpstr>Arial</vt:lpstr>
      <vt:lpstr>Office 主题​​</vt:lpstr>
      <vt:lpstr>胡萝卜的简介</vt:lpstr>
      <vt:lpstr>1.什么是胡萝卜</vt:lpstr>
      <vt:lpstr>1.什么是胡萝卜</vt:lpstr>
      <vt:lpstr>2.胡萝卜的品种有哪些</vt:lpstr>
      <vt:lpstr>2.胡萝卜的品种有哪些</vt:lpstr>
      <vt:lpstr>3.胡萝卜怎么吃</vt:lpstr>
      <vt:lpstr>3.胡萝卜怎么吃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Qizheng</dc:creator>
  <cp:lastModifiedBy>Zhang, Qizheng</cp:lastModifiedBy>
  <cp:revision>3</cp:revision>
  <dcterms:created xsi:type="dcterms:W3CDTF">2026-04-30T06:49:28Z</dcterms:created>
  <dcterms:modified xsi:type="dcterms:W3CDTF">2026-04-30T07:49:12Z</dcterms:modified>
</cp:coreProperties>
</file>